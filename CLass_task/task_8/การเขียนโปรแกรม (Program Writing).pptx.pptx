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arabun Bold" charset="1" panose="00000800000000000000"/>
      <p:regular r:id="rId17"/>
    </p:embeddedFont>
    <p:embeddedFont>
      <p:font typeface="Sarabun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2241" y="-314661"/>
            <a:ext cx="19406795" cy="10916322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69440" y="6496050"/>
            <a:ext cx="12749120" cy="2243138"/>
            <a:chOff x="0" y="0"/>
            <a:chExt cx="16998827" cy="2990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6998828" cy="2990850"/>
            </a:xfrm>
            <a:custGeom>
              <a:avLst/>
              <a:gdLst/>
              <a:ahLst/>
              <a:cxnLst/>
              <a:rect r="r" b="b" t="t" l="l"/>
              <a:pathLst>
                <a:path h="2990850" w="16998828">
                  <a:moveTo>
                    <a:pt x="533717" y="0"/>
                  </a:moveTo>
                  <a:lnTo>
                    <a:pt x="16465111" y="0"/>
                  </a:lnTo>
                  <a:cubicBezTo>
                    <a:pt x="16606661" y="0"/>
                    <a:pt x="16742414" y="56231"/>
                    <a:pt x="16842505" y="156322"/>
                  </a:cubicBezTo>
                  <a:cubicBezTo>
                    <a:pt x="16942597" y="256413"/>
                    <a:pt x="16998828" y="392166"/>
                    <a:pt x="16998828" y="533717"/>
                  </a:cubicBezTo>
                  <a:lnTo>
                    <a:pt x="16998828" y="2457133"/>
                  </a:lnTo>
                  <a:cubicBezTo>
                    <a:pt x="16998828" y="2598684"/>
                    <a:pt x="16942597" y="2734437"/>
                    <a:pt x="16842505" y="2834528"/>
                  </a:cubicBezTo>
                  <a:cubicBezTo>
                    <a:pt x="16742414" y="2934619"/>
                    <a:pt x="16606661" y="2990850"/>
                    <a:pt x="16465111" y="2990850"/>
                  </a:cubicBezTo>
                  <a:lnTo>
                    <a:pt x="533717" y="2990850"/>
                  </a:lnTo>
                  <a:cubicBezTo>
                    <a:pt x="392166" y="2990850"/>
                    <a:pt x="256413" y="2934619"/>
                    <a:pt x="156322" y="2834528"/>
                  </a:cubicBezTo>
                  <a:cubicBezTo>
                    <a:pt x="56231" y="2734437"/>
                    <a:pt x="0" y="2598684"/>
                    <a:pt x="0" y="2457133"/>
                  </a:cubicBezTo>
                  <a:lnTo>
                    <a:pt x="0" y="533717"/>
                  </a:lnTo>
                  <a:cubicBezTo>
                    <a:pt x="0" y="392166"/>
                    <a:pt x="56231" y="256413"/>
                    <a:pt x="156322" y="156322"/>
                  </a:cubicBezTo>
                  <a:cubicBezTo>
                    <a:pt x="256413" y="56231"/>
                    <a:pt x="392166" y="0"/>
                    <a:pt x="53371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867" r="0" b="-986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80712" y="3007519"/>
            <a:ext cx="1252656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การเขียนโปรแกรม (Program Writing)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43575" y="4179094"/>
            <a:ext cx="68008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วิศวกรรมซอฟต์แวร์ (Software Engineering)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4770" y="5826919"/>
            <a:ext cx="29184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B82F6"/>
                </a:solidFill>
                <a:latin typeface="Sarabun Bold"/>
                <a:ea typeface="Sarabun Bold"/>
                <a:cs typeface="Sarabun Bold"/>
                <a:sym typeface="Sarabun Bold"/>
              </a:rPr>
              <a:t>รายชื่อสมาชิกกลุ่ม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52544" y="6670658"/>
            <a:ext cx="57168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293B"/>
                </a:solidFill>
                <a:latin typeface="Sarabun"/>
                <a:ea typeface="Sarabun"/>
                <a:cs typeface="Sarabun"/>
                <a:sym typeface="Sarabun"/>
              </a:rPr>
              <a:t>1. อรปรียา อาสนทอง (6605001699)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1156" y="6670658"/>
            <a:ext cx="53340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293B"/>
                </a:solidFill>
                <a:latin typeface="Sarabun"/>
                <a:ea typeface="Sarabun"/>
                <a:cs typeface="Sarabun"/>
                <a:sym typeface="Sarabun"/>
              </a:rPr>
              <a:t>4. สุทธิดา ทรงรัมย์ (6605005716)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2544" y="7331869"/>
            <a:ext cx="57168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293B"/>
                </a:solidFill>
                <a:latin typeface="Sarabun"/>
                <a:ea typeface="Sarabun"/>
                <a:cs typeface="Sarabun"/>
                <a:sym typeface="Sarabun"/>
              </a:rPr>
              <a:t>2. อภิญญา วงษ์ศรี (6605005344)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1156" y="7331869"/>
            <a:ext cx="53340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293B"/>
                </a:solidFill>
                <a:latin typeface="Sarabun"/>
                <a:ea typeface="Sarabun"/>
                <a:cs typeface="Sarabun"/>
                <a:sym typeface="Sarabun"/>
              </a:rPr>
              <a:t>5. วิญญู สายแสง (6805007405)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52544" y="7989094"/>
            <a:ext cx="571683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293B"/>
                </a:solidFill>
                <a:latin typeface="Sarabun"/>
                <a:ea typeface="Sarabun"/>
                <a:cs typeface="Sarabun"/>
                <a:sym typeface="Sarabun"/>
              </a:rPr>
              <a:t>3. กีมทีนา ลี (6705006069)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9213" y="-406983"/>
            <a:ext cx="19735051" cy="11100966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5875" y="3243263"/>
            <a:ext cx="1614487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การเขียนโปรแกรมในงานวิศวกรรมซอฟต์แวร์</a:t>
            </a: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ไม่ได้หมายถึงการเขียนคำสั่งให้โปรแกรมทำงานได้เพียงอย่างเดียว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5875" y="4479131"/>
            <a:ext cx="1614487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ต้องคำนึงถึงความอ่านง่าย ความสม่ำเสมอ การบำรุงรักษา </a:t>
            </a: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การนำกลับมาใช้ใหม่ การตรวจสอบ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และความสอดคล้องระหว่างการออกแบบกับโค้ดที่พัฒนา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5875" y="5835293"/>
            <a:ext cx="1614487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แนวทางเหล่านี้ช่วยให้ซอฟต์แวร์สามารถพัฒนาต่อได้ง่ายและ</a:t>
            </a: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ลดปัญหาเมื่อมีนักพัฒนาหลายคนทำงานร่วมกัน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3350419"/>
            <a:ext cx="257175" cy="271462"/>
            <a:chOff x="0" y="0"/>
            <a:chExt cx="342900" cy="3619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250" y="4726781"/>
            <a:ext cx="257175" cy="271462"/>
            <a:chOff x="0" y="0"/>
            <a:chExt cx="342900" cy="3619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6036469"/>
            <a:ext cx="257175" cy="271462"/>
            <a:chOff x="0" y="0"/>
            <a:chExt cx="342900" cy="3619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บทนำ (Introduction)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1476375"/>
            <a:ext cx="16573500" cy="42862"/>
            <a:chOff x="0" y="0"/>
            <a:chExt cx="220980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0446" y="-276966"/>
            <a:ext cx="19272767" cy="10840931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2621756"/>
            <a:ext cx="150105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Coding Standards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คือข้อตกลงหรือแนวทางกำหนดรูปแบบและวิธีการเขียนโค้ดให้เป็นมาตรฐานเดียวกันภายในทีมหรือองค์กร เพื่อให้โค้ดอ่านง่าย ตรวจสอบได้ง่าย และทำงานร่วมกันได้ดี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7275" y="4288631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900" y="4202906"/>
            <a:ext cx="765810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Naming Convention: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ตั้งชื่อ class, function, variable, constant และไฟล์ให้สื่อความหมายเดียวกัน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275" y="5917406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5900" y="5874544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Formatting: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 indentation, เว้นวรรค, ขึ้นบรรทัด และการจัดวงเล็บให้สม่ำเสมอ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" y="7093744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900" y="7046119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Code Organization: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กำหนดโครงสร้างไฟล์ โมดูล และฟังก์ชันให้เป็นระเบียบ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5937" y="4345781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29800" y="4202906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Comments &amp; Documentation: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กำหนดเรื่องที่ควรอธิบายด้วยคอมเมนต์และรูปแบบที่ถูกต้อง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15462" y="5579269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29800" y="5507831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Error Handling: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กำหนดแนวทางการตรวจสอบและจัดการข้อผิดพลาด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4037" y="6979444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9800" y="6903244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Quality &amp; Safety: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กำหนดแนวปฏิบัติเพื่อลด defect และความเสี่ยงของซอฟต์แวร์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714375"/>
            <a:ext cx="1740217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1.1 มาตรฐานต่างๆ สำหรับการเขียนโปรแกรม </a:t>
            </a:r>
          </a:p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(Standards for Programming)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2381916"/>
            <a:ext cx="16573500" cy="42862"/>
            <a:chOff x="0" y="0"/>
            <a:chExt cx="220980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8098" y="-671539"/>
            <a:ext cx="20675696" cy="11630079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293644"/>
            <a:ext cx="16573500" cy="1408489"/>
            <a:chOff x="0" y="0"/>
            <a:chExt cx="22098000" cy="187798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1877985"/>
            </a:xfrm>
            <a:custGeom>
              <a:avLst/>
              <a:gdLst/>
              <a:ahLst/>
              <a:cxnLst/>
              <a:rect r="r" b="b" t="t" l="l"/>
              <a:pathLst>
                <a:path h="1877985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877985"/>
                  </a:lnTo>
                  <a:lnTo>
                    <a:pt x="0" y="1877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154" t="0" r="-5715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667000"/>
            <a:ext cx="8001000" cy="3168847"/>
            <a:chOff x="0" y="0"/>
            <a:chExt cx="10668000" cy="422513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68000" cy="4225130"/>
            </a:xfrm>
            <a:custGeom>
              <a:avLst/>
              <a:gdLst/>
              <a:ahLst/>
              <a:cxnLst/>
              <a:rect r="r" b="b" t="t" l="l"/>
              <a:pathLst>
                <a:path h="422513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225130"/>
                  </a:lnTo>
                  <a:lnTo>
                    <a:pt x="0" y="4225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432" t="0" r="-3943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29750" y="2667000"/>
            <a:ext cx="8001000" cy="3168847"/>
            <a:chOff x="0" y="0"/>
            <a:chExt cx="10668000" cy="422513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668000" cy="4225130"/>
            </a:xfrm>
            <a:custGeom>
              <a:avLst/>
              <a:gdLst/>
              <a:ahLst/>
              <a:cxnLst/>
              <a:rect r="r" b="b" t="t" l="l"/>
              <a:pathLst>
                <a:path h="422513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225130"/>
                  </a:lnTo>
                  <a:lnTo>
                    <a:pt x="0" y="4225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432" t="0" r="-394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5862" y="6379369"/>
            <a:ext cx="1598771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สรุป:</a:t>
            </a:r>
            <a:r>
              <a:rPr lang="en-US" sz="3000">
                <a:solidFill>
                  <a:srgbClr val="1E3A8A"/>
                </a:solidFill>
                <a:latin typeface="Sarabun"/>
                <a:ea typeface="Sarabun"/>
                <a:cs typeface="Sarabun"/>
                <a:sym typeface="Sarabun"/>
              </a:rPr>
              <a:t> มาตรฐานการเขียนโปรแกรมไม่ได้มีไว้เพื่อบังคับรูปแบบ แต่เป็นเครื่องมือสร้างความสม่ำเสมอและลดต้นทุนในการอ่าน แก้ไข ทดสอบ และบำรุงรักษาโค้ด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6398" y="2967038"/>
            <a:ext cx="748760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GNU Coding Standards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" y="3367088"/>
            <a:ext cx="725805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มุ่งให้โปรแกรมมีความสะอาด สอดคล้อง พกพาได้ และมีความน่าเชื่อถือ แม้จะเน้นภาษา C แต่หลักการหลายส่วนนำไปประยุกต์ใช้กับภาษาอื่นได้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58425" y="2967038"/>
            <a:ext cx="74685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IEEE Code Standards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1225" y="3367088"/>
            <a:ext cx="725805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อธิบายว่า code standards ครอบคลุมข้อกำหนดด้าน naming, formatting, documentation และ safety เพื่อให้อ่านง่าย ดูแลรักษาได้ และทำงานร่วมกันได้ดี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8725" y="3081338"/>
            <a:ext cx="200025" cy="228600"/>
            <a:chOff x="0" y="0"/>
            <a:chExt cx="266700" cy="3048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01225" y="3081338"/>
            <a:ext cx="228600" cy="228600"/>
            <a:chOff x="0" y="0"/>
            <a:chExt cx="304800" cy="304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25" r="0" b="-312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มาตรฐานและแนวทางปฏิบัติจริง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1619250"/>
            <a:ext cx="16573500" cy="42862"/>
            <a:chOff x="0" y="0"/>
            <a:chExt cx="2209800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8544" y="-361621"/>
            <a:ext cx="19573762" cy="11010241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0" y="3307556"/>
            <a:ext cx="8001000" cy="4572000"/>
            <a:chOff x="0" y="0"/>
            <a:chExt cx="10668000" cy="609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44038" y="3321844"/>
            <a:ext cx="7972425" cy="4543425"/>
            <a:chOff x="0" y="0"/>
            <a:chExt cx="10629900" cy="605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299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28" r="0" b="-36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2238375"/>
            <a:ext cx="16573500" cy="42862"/>
            <a:chOff x="0" y="0"/>
            <a:chExt cx="22098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3221831"/>
            <a:ext cx="8001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Software Reuse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คือการนำ component หรือ library ที่มีอยู่แล้วมาใช้ในบริบทใหม่ แทนการพัฒนาจากศูนย์ ช่วยลดเวลาและต้นทุน แต่ต้องระวังเรื่อง dependency และความเข้ากันได้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" y="5926931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1. ค้นหาและประเมิน: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ตรวจสอบ library ที่มีอยู่ก่อนสร้างใหม่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50" y="6815600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2. ออกแบบ Modular: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แยกส่วนประกอบให้มีหน้าที่ชัดเจน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50" y="7844300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3. กำหนด Interface: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ระบุข้อมูลเข้า-ออกให้ชัดเจนโดยไม่ต้องรู้ภายใน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714375"/>
            <a:ext cx="1740217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1.2 แนวทางคำแนะนำสำหรับการนำกลับมาใช้ใหม่ (Guidelines for Reuse)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957857" cy="10645852"/>
            <a:chOff x="0" y="0"/>
            <a:chExt cx="25277143" cy="141944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277142" cy="14194470"/>
            </a:xfrm>
            <a:custGeom>
              <a:avLst/>
              <a:gdLst/>
              <a:ahLst/>
              <a:cxnLst/>
              <a:rect r="r" b="b" t="t" l="l"/>
              <a:pathLst>
                <a:path h="14194470" w="25277142">
                  <a:moveTo>
                    <a:pt x="0" y="0"/>
                  </a:moveTo>
                  <a:lnTo>
                    <a:pt x="25277142" y="0"/>
                  </a:lnTo>
                  <a:lnTo>
                    <a:pt x="25277142" y="14194470"/>
                  </a:lnTo>
                  <a:lnTo>
                    <a:pt x="0" y="14194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4" r="0" b="-8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71838"/>
            <a:ext cx="5333924" cy="3578200"/>
            <a:chOff x="0" y="0"/>
            <a:chExt cx="7111898" cy="477093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11873" cy="4770934"/>
            </a:xfrm>
            <a:custGeom>
              <a:avLst/>
              <a:gdLst/>
              <a:ahLst/>
              <a:cxnLst/>
              <a:rect r="r" b="b" t="t" l="l"/>
              <a:pathLst>
                <a:path h="477093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770934"/>
                  </a:lnTo>
                  <a:lnTo>
                    <a:pt x="0" y="477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933" t="0" r="-3093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76924" y="3271838"/>
            <a:ext cx="5333924" cy="3578200"/>
            <a:chOff x="0" y="0"/>
            <a:chExt cx="7111898" cy="477093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4770934"/>
            </a:xfrm>
            <a:custGeom>
              <a:avLst/>
              <a:gdLst/>
              <a:ahLst/>
              <a:cxnLst/>
              <a:rect r="r" b="b" t="t" l="l"/>
              <a:pathLst>
                <a:path h="477093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770934"/>
                  </a:lnTo>
                  <a:lnTo>
                    <a:pt x="0" y="477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933" t="0" r="-3093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598" y="3271838"/>
            <a:ext cx="5333924" cy="3578200"/>
            <a:chOff x="0" y="0"/>
            <a:chExt cx="7111898" cy="477093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1873" cy="4770934"/>
            </a:xfrm>
            <a:custGeom>
              <a:avLst/>
              <a:gdLst/>
              <a:ahLst/>
              <a:cxnLst/>
              <a:rect r="r" b="b" t="t" l="l"/>
              <a:pathLst>
                <a:path h="477093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770934"/>
                  </a:lnTo>
                  <a:lnTo>
                    <a:pt x="0" y="4770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933" t="0" r="-3093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4719" y="7710487"/>
            <a:ext cx="1135856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งานวิจัยแบ่งการ reuse ได้หลายมิติ: Language-specific, Design-specific, Domain-specific, Product-specific และ Architecture-specific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8712" y="4150519"/>
            <a:ext cx="47763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4. ลด Coupling &amp; Cohesion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712" y="4648200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ส่วนประกอบไม่ควรผูกติดกับบริบทเฉพาะมากเกินไป และมีหน้าที่เฉพาะเจาะจง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48386" y="4200525"/>
            <a:ext cx="479099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5. License &amp; Compatibility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8386" y="4648200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ตรวจสอบลิขสิทธิ์และความเข้ากันได้ โดยเฉพาะเมื่อนำ Open-Source มาใช้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68060" y="4200525"/>
            <a:ext cx="479099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6. พิจารณาค่าใช้จ่ายรวม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68060" y="4648200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ประเมินต้นทุนในการทำความเข้าใจ ดัดแปลง และดูแล dependency ว่าคุ้มค่าหรือไม่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28712" y="3629025"/>
            <a:ext cx="500062" cy="400050"/>
            <a:chOff x="0" y="0"/>
            <a:chExt cx="666750" cy="5334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48386" y="3629025"/>
            <a:ext cx="457200" cy="400050"/>
            <a:chOff x="0" y="0"/>
            <a:chExt cx="609600" cy="5334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68060" y="3629025"/>
            <a:ext cx="500062" cy="400050"/>
            <a:chOff x="0" y="0"/>
            <a:chExt cx="666750" cy="5334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แนวทางสำคัญในการทำ Software Reuse (ต่อ)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7250" y="1644727"/>
            <a:ext cx="16573500" cy="42862"/>
            <a:chOff x="0" y="0"/>
            <a:chExt cx="22098000" cy="57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1907" y="-270257"/>
            <a:ext cx="19248914" cy="10827514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40662" y="6031111"/>
            <a:ext cx="11117063" cy="3565432"/>
            <a:chOff x="0" y="0"/>
            <a:chExt cx="18888610" cy="6057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8861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8888610">
                  <a:moveTo>
                    <a:pt x="0" y="0"/>
                  </a:moveTo>
                  <a:lnTo>
                    <a:pt x="18888610" y="0"/>
                  </a:lnTo>
                  <a:lnTo>
                    <a:pt x="1888861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750" r="0" b="-127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476375"/>
            <a:ext cx="16573500" cy="42862"/>
            <a:chOff x="0" y="0"/>
            <a:chExt cx="22098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71550" y="2135981"/>
            <a:ext cx="1446033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การออกแบบซอฟต์แวร์ทำหน้าที่เป็น</a:t>
            </a: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กรอบก่อนเข้าสู่การเขียนโค้ด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กำหนดส่วนประกอบ หน้าที่ และการติดต่อกัน เช่น ระบบชั้น </a:t>
            </a:r>
            <a:r>
              <a:rPr lang="en-US" sz="3000" b="true">
                <a:solidFill>
                  <a:srgbClr val="334155"/>
                </a:solidFill>
                <a:latin typeface="Sarabun Bold"/>
                <a:ea typeface="Sarabun Bold"/>
                <a:cs typeface="Sarabun Bold"/>
                <a:sym typeface="Sarabun Bold"/>
              </a:rPr>
              <a:t>UI → Service → Data Access → Database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93889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3408164"/>
            <a:ext cx="76581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ช่วยให้โค้ดมีโครงสร้างตามที่ทีมออกแบบไว้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126111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7468" y="4040386"/>
            <a:ext cx="813656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ป้องกันการเขียนโค้ดแบบเฉพาะหน้า (Ad hoc coding)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326261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450" y="5240536"/>
            <a:ext cx="76581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ทำให้การแก้ไขส่วนหนึ่งไม่กระทบส่วนอื่นโดยไม่จำเป็น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1.3 การใช้การออกแบบเป็นกรอบสำหรับการเขียนโปรแกรม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6423" y="-405793"/>
            <a:ext cx="19692283" cy="11098586"/>
            <a:chOff x="0" y="0"/>
            <a:chExt cx="24384000" cy="13742841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42842"/>
            </a:xfrm>
            <a:custGeom>
              <a:avLst/>
              <a:gdLst/>
              <a:ahLst/>
              <a:cxnLst/>
              <a:rect r="r" b="b" t="t" l="l"/>
              <a:pathLst>
                <a:path h="1374284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42842"/>
                  </a:lnTo>
                  <a:lnTo>
                    <a:pt x="0" y="13742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515100"/>
            <a:ext cx="16573500" cy="1375262"/>
            <a:chOff x="0" y="0"/>
            <a:chExt cx="22098000" cy="183368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1833683"/>
            </a:xfrm>
            <a:custGeom>
              <a:avLst/>
              <a:gdLst/>
              <a:ahLst/>
              <a:cxnLst/>
              <a:rect r="r" b="b" t="t" l="l"/>
              <a:pathLst>
                <a:path h="1833683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833683"/>
                  </a:lnTo>
                  <a:lnTo>
                    <a:pt x="0" y="1833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385" t="0" r="-673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3076575"/>
            <a:ext cx="5333924" cy="3278154"/>
            <a:chOff x="0" y="0"/>
            <a:chExt cx="7111898" cy="437087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4370872"/>
            </a:xfrm>
            <a:custGeom>
              <a:avLst/>
              <a:gdLst/>
              <a:ahLst/>
              <a:cxnLst/>
              <a:rect r="r" b="b" t="t" l="l"/>
              <a:pathLst>
                <a:path h="4370872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370872"/>
                  </a:lnTo>
                  <a:lnTo>
                    <a:pt x="0" y="4370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146" t="0" r="-24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76924" y="3076575"/>
            <a:ext cx="5333924" cy="3278154"/>
            <a:chOff x="0" y="0"/>
            <a:chExt cx="7111898" cy="437087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1873" cy="4370872"/>
            </a:xfrm>
            <a:custGeom>
              <a:avLst/>
              <a:gdLst/>
              <a:ahLst/>
              <a:cxnLst/>
              <a:rect r="r" b="b" t="t" l="l"/>
              <a:pathLst>
                <a:path h="4370872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370872"/>
                  </a:lnTo>
                  <a:lnTo>
                    <a:pt x="0" y="4370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146" t="0" r="-2414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96598" y="3076575"/>
            <a:ext cx="5333924" cy="3278154"/>
            <a:chOff x="0" y="0"/>
            <a:chExt cx="7111898" cy="437087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11873" cy="4370872"/>
            </a:xfrm>
            <a:custGeom>
              <a:avLst/>
              <a:gdLst/>
              <a:ahLst/>
              <a:cxnLst/>
              <a:rect r="r" b="b" t="t" l="l"/>
              <a:pathLst>
                <a:path h="4370872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370872"/>
                  </a:lnTo>
                  <a:lnTo>
                    <a:pt x="0" y="4370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146" t="0" r="-2414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5862" y="6572250"/>
            <a:ext cx="1598771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สรุป:</a:t>
            </a:r>
            <a:r>
              <a:rPr lang="en-US" sz="3000">
                <a:solidFill>
                  <a:srgbClr val="1E3A8A"/>
                </a:solidFill>
                <a:latin typeface="Sarabun"/>
                <a:ea typeface="Sarabun"/>
                <a:cs typeface="Sarabun"/>
                <a:sym typeface="Sarabun"/>
              </a:rPr>
              <a:t> Design เปรียบเสมือนพิมพ์เขียว ส่วน Code คือการก่อสร้าง ช่วยให้ระบบตรงกับความต้องการและสถาปัตยกรรมที่วางไว้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713" y="4005263"/>
            <a:ext cx="478623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Match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8712" y="4433888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โครงสร้างของโค้ดควรสะท้อนการออกแบบที่ได้รับอนุมัติอย่างเคร่งครัด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8386" y="4005263"/>
            <a:ext cx="479099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รักษา Abstraction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8386" y="4433888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รายละเอียดภายใน module ไม่ควรรั่วไหลไปยังส่วนอื่นโดยไม่จำเป็น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68060" y="4005263"/>
            <a:ext cx="48912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ใช้ชื่อเดียวกัน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8060" y="4433888"/>
            <a:ext cx="47909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ชื่อ class, module, service และ entity ในโค้ดควรสอดคล้องกับ design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8712" y="3433763"/>
            <a:ext cx="357188" cy="400050"/>
            <a:chOff x="0" y="0"/>
            <a:chExt cx="476250" cy="5334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48386" y="3433763"/>
            <a:ext cx="457200" cy="400050"/>
            <a:chOff x="0" y="0"/>
            <a:chExt cx="609600" cy="5334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68060" y="3433763"/>
            <a:ext cx="500062" cy="400050"/>
            <a:chOff x="0" y="0"/>
            <a:chExt cx="666750" cy="5334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แนวทางปฏิบัติในการเชื่อมโยง Design กับ Code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7021" y="1644727"/>
            <a:ext cx="16573500" cy="42862"/>
            <a:chOff x="0" y="0"/>
            <a:chExt cx="22098000" cy="57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6308" y="-555080"/>
            <a:ext cx="19880616" cy="11182847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93269"/>
            <a:ext cx="8001000" cy="4479312"/>
            <a:chOff x="0" y="0"/>
            <a:chExt cx="10668000" cy="597241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0" cy="5972416"/>
            </a:xfrm>
            <a:custGeom>
              <a:avLst/>
              <a:gdLst/>
              <a:ahLst/>
              <a:cxnLst/>
              <a:rect r="r" b="b" t="t" l="l"/>
              <a:pathLst>
                <a:path h="5972416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972416"/>
                  </a:lnTo>
                  <a:lnTo>
                    <a:pt x="0" y="5972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219" t="0" r="-2721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293269"/>
            <a:ext cx="8001000" cy="4479312"/>
            <a:chOff x="0" y="0"/>
            <a:chExt cx="10668000" cy="597241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68000" cy="5972416"/>
            </a:xfrm>
            <a:custGeom>
              <a:avLst/>
              <a:gdLst/>
              <a:ahLst/>
              <a:cxnLst/>
              <a:rect r="r" b="b" t="t" l="l"/>
              <a:pathLst>
                <a:path h="5972416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972416"/>
                  </a:lnTo>
                  <a:lnTo>
                    <a:pt x="0" y="5972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19" t="0" r="-2721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37348" y="3593306"/>
            <a:ext cx="75066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Internal Documentation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725" y="3993356"/>
            <a:ext cx="72580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เอกสารสำหรับทีมพัฒนาและผู้ดูแลระบบ เพื่อเข้าใจรายละเอียดภายในของซอฟต์แวร์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0800" y="3593306"/>
            <a:ext cx="75066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External Documentation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1225" y="3993356"/>
            <a:ext cx="72580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เอกสารอธิบายการใช้งานแก่ผู้ใช้ นักพัฒนาภายนอก หรือผู้ติดตั้งระบบ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28725" y="3707606"/>
            <a:ext cx="171450" cy="228600"/>
            <a:chOff x="0" y="0"/>
            <a:chExt cx="2286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23975" y="5026819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1625" y="5443537"/>
            <a:ext cx="69151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Comments อธิบายเหตุผลหรือ 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3975" y="5503069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1625" y="4950619"/>
            <a:ext cx="69151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Architecture &amp; Design Document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975" y="6643688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1625" y="6607969"/>
            <a:ext cx="69151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Coding conventions &amp; API ภายใน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01225" y="3707606"/>
            <a:ext cx="171450" cy="228600"/>
            <a:chOff x="0" y="0"/>
            <a:chExt cx="228600" cy="304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01250" y="5085250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48900" y="5022056"/>
            <a:ext cx="69151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User Manual &amp; README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01250" y="5574506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8900" y="5522119"/>
            <a:ext cx="69151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API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01250" y="6074569"/>
            <a:ext cx="857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48900" y="6007894"/>
            <a:ext cx="69151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Installation &amp; Configuration Guide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1.4 เอกสารภายในและเอกสารภายนอก (Documentation)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250" y="1620804"/>
            <a:ext cx="16573500" cy="42862"/>
            <a:chOff x="0" y="0"/>
            <a:chExt cx="22098000" cy="571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89" y="-107656"/>
            <a:ext cx="19029628" cy="10502311"/>
            <a:chOff x="0" y="0"/>
            <a:chExt cx="25372837" cy="14003082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372837" cy="14003082"/>
            </a:xfrm>
            <a:custGeom>
              <a:avLst/>
              <a:gdLst/>
              <a:ahLst/>
              <a:cxnLst/>
              <a:rect r="r" b="b" t="t" l="l"/>
              <a:pathLst>
                <a:path h="14003082" w="25372837">
                  <a:moveTo>
                    <a:pt x="0" y="0"/>
                  </a:moveTo>
                  <a:lnTo>
                    <a:pt x="25372837" y="0"/>
                  </a:lnTo>
                  <a:lnTo>
                    <a:pt x="25372837" y="14003082"/>
                  </a:lnTo>
                  <a:lnTo>
                    <a:pt x="0" y="14003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60" r="0" b="-96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76300" y="2685000"/>
          <a:ext cx="16554450" cy="5491162"/>
        </p:xfrm>
        <a:graphic>
          <a:graphicData uri="http://schemas.openxmlformats.org/drawingml/2006/table">
            <a:tbl>
              <a:tblPr/>
              <a:tblGrid>
                <a:gridCol w="2650015"/>
                <a:gridCol w="7219362"/>
                <a:gridCol w="6685073"/>
              </a:tblGrid>
              <a:tr h="915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ประเด็น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Internal Documentation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External Documentation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15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34155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กลุ่มเป้าหมาย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นักพัฒนา ผู้ดูแล และทีมงานภายใน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ผู้ใช้ นักพัฒนาภายนอก หรือผู้ติดตั้งระบบ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2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34155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เนื้อหา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รายละเอียด implementation และการพัฒนาภายใน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วิธีใช้งานและการเชื่อมต่อกับระบบ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5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34155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ตัวอย่าง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Comments, Design Doc, Coding Guide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README, User Manual, API Guide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2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34155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จุดประสงค์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ช่วยพัฒนา แก้ไข ทดสอบ และบำรุงรักษา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334155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ช่วยให้ผู้ใช้หรือผู้พัฒนาภายนอกใช้งานระบบได้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เปรียบเทียบ Internal และ External Documentation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476375"/>
            <a:ext cx="16573500" cy="42862"/>
            <a:chOff x="0" y="0"/>
            <a:chExt cx="22098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777" y="-186418"/>
            <a:ext cx="19145554" cy="10769374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5875" y="2933700"/>
            <a:ext cx="161448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การเขียนโปรแกรมที่ดีในวิศวกรรมซอฟต์แวร์ต้องพิจารณาองค์ประกอบรอบด้านอย่างเป็นระบบ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5875" y="3405187"/>
            <a:ext cx="161448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Standards: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สร้างความสม่ำเสมอและลดต้นทุนในการดูแลรักษาโค้ด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5875" y="3876675"/>
            <a:ext cx="161448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Reuse: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เลือกและออกแบบส่วนประกอบให้ใช้ซ้ำได้อย่างปลอดภัยและคุ้มค่า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5875" y="4348163"/>
            <a:ext cx="161448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Design: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ใช้สถาปัตยกรรมเป็นกรอบเพื่อป้องกันการเขียนโค้ดแบบเฉพาะหน้า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875" y="4819650"/>
            <a:ext cx="161448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Documentation:</a:t>
            </a:r>
            <a:r>
              <a:rPr lang="en-US" sz="3000">
                <a:solidFill>
                  <a:srgbClr val="334155"/>
                </a:solidFill>
                <a:latin typeface="Sarabun"/>
                <a:ea typeface="Sarabun"/>
                <a:cs typeface="Sarabun"/>
                <a:sym typeface="Sarabun"/>
              </a:rPr>
              <a:t> จัดทำเอกสารภายในและภายนอกให้สอดคล้องกับซอฟต์แวร์ปัจจุบัน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040856"/>
            <a:ext cx="285750" cy="271462"/>
            <a:chOff x="0" y="0"/>
            <a:chExt cx="381000" cy="3619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381000" cy="361950"/>
            </a:xfrm>
            <a:custGeom>
              <a:avLst/>
              <a:gdLst/>
              <a:ahLst/>
              <a:cxnLst/>
              <a:rect r="r" b="b" t="t" l="l"/>
              <a:pathLst>
                <a:path h="3619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3512344"/>
            <a:ext cx="257175" cy="271462"/>
            <a:chOff x="0" y="0"/>
            <a:chExt cx="342900" cy="3619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3983831"/>
            <a:ext cx="257175" cy="271462"/>
            <a:chOff x="0" y="0"/>
            <a:chExt cx="342900" cy="3619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4455319"/>
            <a:ext cx="257175" cy="271462"/>
            <a:chOff x="0" y="0"/>
            <a:chExt cx="342900" cy="3619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4926806"/>
            <a:ext cx="257175" cy="271462"/>
            <a:chOff x="0" y="0"/>
            <a:chExt cx="342900" cy="3619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57250" y="714375"/>
            <a:ext cx="174021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E3A8A"/>
                </a:solidFill>
                <a:latin typeface="Sarabun Bold"/>
                <a:ea typeface="Sarabun Bold"/>
                <a:cs typeface="Sarabun Bold"/>
                <a:sym typeface="Sarabun Bold"/>
              </a:rPr>
              <a:t>สรุปภาพรวม (Summary)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1692574"/>
            <a:ext cx="16573500" cy="42862"/>
            <a:chOff x="0" y="0"/>
            <a:chExt cx="2209800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DAHTZ4cvgbw</dc:identifier>
  <dcterms:modified xsi:type="dcterms:W3CDTF">2011-08-01T06:04:30Z</dcterms:modified>
  <cp:revision>1</cp:revision>
  <dc:title>การเขียนโปรแกรม (Program Writing).pptx</dc:title>
</cp:coreProperties>
</file>