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25" y="3333898"/>
            <a:ext cx="3257550" cy="245715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5750"/>
            <a:ext cx="3810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55732" y="1066948"/>
            <a:ext cx="4280535" cy="1390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0F172A"/>
                </a:solidFill>
                <a:latin typeface="Sarabun"/>
              </a:rPr>
              <a:t>กลยุทธ์การทดสอบ</a:t>
            </a:r>
            <a:r>
              <a:t>
</a:t>
            </a:r>
            <a:r>
              <a:rPr b="1" sz="4200" i="0" u="none">
                <a:solidFill>
                  <a:srgbClr val="0F172A"/>
                </a:solidFill>
                <a:latin typeface="Sarabun"/>
              </a:rPr>
              <a:t> ซอฟต์แวร์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7650" y="2600473"/>
            <a:ext cx="4076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Sarabun"/>
              </a:rPr>
              <a:t>Software Testing Strategies &amp; Methodologies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85848" y="3581548"/>
            <a:ext cx="242030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arabun"/>
              </a:rPr>
              <a:t>รายชื่อสมาชิกกลุ่มผู้จัดทำ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3475" y="3981598"/>
            <a:ext cx="23050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Sarabun"/>
              </a:rPr>
              <a:t>1. อรปรียา อาสนทอง (6605001699)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3475" y="4301579"/>
            <a:ext cx="23050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Sarabun"/>
              </a:rPr>
              <a:t>2. อภิญญา วงษ์ศรี (6605005344)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43475" y="4621559"/>
            <a:ext cx="23050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Sarabun"/>
              </a:rPr>
              <a:t>3. กีมทีนา ลี (6705006069)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3475" y="4941540"/>
            <a:ext cx="23050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Sarabun"/>
              </a:rPr>
              <a:t>4. สุทธิดา ทรงรัมย์ (6605005716)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43475" y="5261520"/>
            <a:ext cx="23050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Sarabun"/>
              </a:rPr>
              <a:t>5. วิญญู สายแสง (6805007405)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750"/>
            <a:ext cx="381000" cy="2476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19750" y="2828925"/>
            <a:ext cx="9525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80498" y="3124200"/>
            <a:ext cx="8031003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Sarabun"/>
              </a:rPr>
              <a:t>บทนำและความหมายของการทดสอบ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8025" y="3962400"/>
            <a:ext cx="5695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Sarabun"/>
              </a:rPr>
              <a:t>หลักการพื้นฐาน มาตรฐานสากล ISO และแนวคิด Verification &amp;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59472"/>
            <a:ext cx="5286375" cy="9295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193726"/>
            <a:ext cx="5286375" cy="15734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957637"/>
            <a:ext cx="5286375" cy="15734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5750"/>
            <a:ext cx="3810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193726"/>
            <a:ext cx="5286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Sarabun"/>
              </a:rPr>
              <a:t>Software Testing</a:t>
            </a:r>
            <a:r>
              <a:rPr b="0" sz="1350" i="0" u="none">
                <a:solidFill>
                  <a:srgbClr val="334155"/>
                </a:solidFill>
                <a:latin typeface="Sarabun"/>
              </a:rPr>
              <a:t> คือกระบวนการตรวจสอบและประเมินระบบซอฟต์แวร์ เพื่อค้นหาข้อบกพร่อง (Defects) และยืนยันว่าระบบทำงานตรงตามข้อกำหนด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349972"/>
            <a:ext cx="47720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FFFFF"/>
                </a:solidFill>
                <a:latin typeface="Sarabun Medium"/>
              </a:rPr>
              <a:t>มาตรฐาน ISO/IEC/IEEE 29119: ควบคุมภาพรวมตั้งแต่แนวคิด กระบวนการจัดทำเอกสาร และเทคนิคการออกแบบ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230975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231927"/>
            <a:ext cx="5057775" cy="27429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Sarabun"/>
              </a:rPr>
              <a:t>ค้นหาความผิดพลาดก่อนส่งมอบสู่ผู้ใช้งานจริง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4619565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620517"/>
            <a:ext cx="5057775" cy="27429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Sarabun"/>
              </a:rPr>
              <a:t>ลดความเสี่ยงด้านความปลอดภัยและความเสียหายทางธุรกิจ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5008155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5009108"/>
            <a:ext cx="5057775" cy="27429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Sarabun"/>
              </a:rPr>
              <a:t>เพิ่มความมั่นใจในคุณภาพ แม้ไม่สามารถหา bug ได้ 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925" y="2498526"/>
            <a:ext cx="164020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arabun"/>
              </a:rPr>
              <a:t>Quality Assurance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925" y="2860476"/>
            <a:ext cx="46767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Sarabun"/>
              </a:rPr>
              <a:t>ตรวจสอบพฤติกรรมทั้งในสถานการณ์ปกติและกรณีสุดโต่ง พร้อมทั้งลดต้นทุนการแก้ไขข้อผิดพลาดในระยะยาว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925" y="4262437"/>
            <a:ext cx="133016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arabun"/>
              </a:rPr>
              <a:t>Risk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925" y="4624387"/>
            <a:ext cx="46767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Sarabun"/>
              </a:rPr>
              <a:t>ยืนยันความถูกต้องและความน่าเชื่อถือของระบบตามความต้องการของผู้มีส่วนได้ส่วนเสียทุกฝ่าย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arabun"/>
              </a:rPr>
              <a:t>ความหมายของการทดสอบซอฟต์แวร์ (Software Testing)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4027"/>
            <a:ext cx="5286375" cy="9295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37483"/>
            <a:ext cx="5286375" cy="9295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841152"/>
            <a:ext cx="5286375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5750"/>
            <a:ext cx="3810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34125" y="5555902"/>
            <a:ext cx="528637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Sarabun"/>
              </a:rPr>
              <a:t>ภาพแสดงความสัมพันธ์ระหว่าง Verification และ Validation ในวงจรพัฒนา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174527"/>
            <a:ext cx="47720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Sarabun"/>
              </a:rPr>
              <a:t>Verification:</a:t>
            </a:r>
            <a:r>
              <a:rPr b="0" sz="1350" i="0" u="none">
                <a:solidFill>
                  <a:srgbClr val="FFFFFF"/>
                </a:solidFill>
                <a:latin typeface="Sarabun Medium"/>
              </a:rPr>
              <a:t> "เราสร้างผลิตภัณฑ์ถูกต้องตามข้อกำหนดหรือไม่?"</a:t>
            </a:r>
            <a:r>
              <a:t>
</a:t>
            </a:r>
            <a:r>
              <a:rPr b="0" sz="1350" i="0" u="none">
                <a:solidFill>
                  <a:srgbClr val="CBD5E1"/>
                </a:solidFill>
                <a:latin typeface="Sarabun"/>
              </a:rPr>
              <a:t>เน้นการตรวจสอบเอกสารและโค้ด เช่น Code Review, Design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627983"/>
            <a:ext cx="47720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Sarabun"/>
              </a:rPr>
              <a:t>Validation:</a:t>
            </a:r>
            <a:r>
              <a:rPr b="0" sz="1350" i="0" u="none">
                <a:solidFill>
                  <a:srgbClr val="FFFFFF"/>
                </a:solidFill>
                <a:latin typeface="Sarabun Medium"/>
              </a:rPr>
              <a:t> "เราสร้างผลิตภัณฑ์ที่ถูกต้องสำหรับผู้ใช้หรือไม่?"</a:t>
            </a:r>
            <a:r>
              <a:t>
</a:t>
            </a:r>
            <a:r>
              <a:rPr b="0" sz="1350" i="0" u="none">
                <a:solidFill>
                  <a:srgbClr val="CBD5E1"/>
                </a:solidFill>
                <a:latin typeface="Sarabun"/>
              </a:rPr>
              <a:t>เน้นการทดสอบระบบจริงและความพึงพอใจของผู้ใช้งาน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3175" y="1860202"/>
            <a:ext cx="5248275" cy="3581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arabun"/>
              </a:rPr>
              <a:t>การตรวจทานและการตรวจรับ (V&amp;V)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41152"/>
            <a:ext cx="52863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5750"/>
            <a:ext cx="3810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841152"/>
            <a:ext cx="555069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arabun"/>
              </a:rPr>
              <a:t>Test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222152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Sarabun"/>
              </a:rPr>
              <a:t>เอกสารหลักที่ระบุแนวทาง ขอบเขต วัตถุประสงค์ และเกณฑ์การประเมินผลการทดสอบอย่างเป็นระบบ เพื่อให้ทีมงานดำเนินงานในทิศทางเดียวกัน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08858"/>
            <a:ext cx="555069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arabun"/>
              </a:rPr>
              <a:t>Test Case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389858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Sarabun"/>
              </a:rPr>
              <a:t>ประกอบด้วย Test ID, Preconditions, Input Data, Test Steps, Expected Results และ Actual Results เพื่อการตรวจสอบผลลัพธ์ที่แม่นยำ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125" y="5555902"/>
            <a:ext cx="528637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Sarabun"/>
              </a:rPr>
              <a:t>ตัวอย่างโครงสร้างข้อมูล Test Case ที่ใช้ในการทดสอบระบบจริง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175" y="1860202"/>
            <a:ext cx="5248275" cy="3581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arabun"/>
              </a:rPr>
              <a:t>ข้อกำหนดการทดสอบและกรณีทดสอบ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750"/>
            <a:ext cx="381000" cy="2476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19750" y="2828925"/>
            <a:ext cx="9525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45431" y="3124200"/>
            <a:ext cx="9101137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Sarabun"/>
              </a:rPr>
              <a:t>กลยุทธ์เชิงวัตถุและการทดสอบระดับหน่วย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8987" y="3962400"/>
            <a:ext cx="55340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Sarabun"/>
              </a:rPr>
              <a:t>การทดสอบคลาส ออบเจ็กต์ และฟังก์ชันย่อยของระบบตามมาตรฐานสากล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41152"/>
            <a:ext cx="52863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5750"/>
            <a:ext cx="3810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841152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Sarabun"/>
              </a:rPr>
              <a:t>การทดสอบระบบเชิงวัตถุมีความท้าทายสูงเนื่องจากคุณสมบัติเด่น ได้แก่ Encapsulation, Inheritance และ Polymorphism ซึ่งต้องคำนึงถึง: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5555902"/>
            <a:ext cx="528637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Sarabun"/>
              </a:rPr>
              <a:t>แผนภาพแสดงความสัมพันธ์ในการทดสอบคลาสและออบเจ็กต์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2503080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504033"/>
            <a:ext cx="5057775" cy="54858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Sarabun"/>
              </a:rPr>
              <a:t>Class &amp; Object Testing:</a:t>
            </a:r>
            <a:r>
              <a:rPr b="0" sz="1350" i="0" u="none">
                <a:solidFill>
                  <a:srgbClr val="334155"/>
                </a:solidFill>
                <a:latin typeface="Sarabun"/>
              </a:rPr>
              <a:t> ทดสอบสถานะและการทำงานของแต่ละออบเจ็กต์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3165961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166913"/>
            <a:ext cx="5057775" cy="54858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Sarabun"/>
              </a:rPr>
              <a:t>Inheritance Testing:</a:t>
            </a:r>
            <a:r>
              <a:rPr b="0" sz="1350" i="0" u="none">
                <a:solidFill>
                  <a:srgbClr val="334155"/>
                </a:solidFill>
                <a:latin typeface="Sarabun"/>
              </a:rPr>
              <a:t> ตรวจสอบพฤติกรรมที่สืบทอดมาว่ายังคงถูกต้องสมบูรณ์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3828841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829794"/>
            <a:ext cx="5057775" cy="54858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Sarabun"/>
              </a:rPr>
              <a:t>Interaction Testing:</a:t>
            </a:r>
            <a:r>
              <a:rPr b="0" sz="1350" i="0" u="none">
                <a:solidFill>
                  <a:srgbClr val="334155"/>
                </a:solidFill>
                <a:latin typeface="Sarabun"/>
              </a:rPr>
              <a:t> ใช้แนวทาง Thread-based และ Use-based เพื่อทดสอบการทำงานร่วมกัน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175" y="1860202"/>
            <a:ext cx="5248275" cy="3581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arabun"/>
              </a:rPr>
              <a:t>กลยุทธ์เชิงวัตถุ (Object-Oriented Strategy)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41152"/>
            <a:ext cx="52863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5750"/>
            <a:ext cx="3810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841152"/>
            <a:ext cx="5286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Sarabun"/>
              </a:rPr>
              <a:t>Unit Testing เป็นการทดสอบส่วนย่อยที่สุดของโปรแกรม เช่น Function, Method หรือ Class แยกจากส่วนอื่น ๆ เพื่อให้มั่นใจว่าโค้ดแต่ละส่วนทำงานถูกต้องแม่นยำ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5555902"/>
            <a:ext cx="528637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Sarabun"/>
              </a:rPr>
              <a:t>กระบวนการเขียนและรันชุดทดสอบระดับหน่วยแบบอัตโนมัติ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2777370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778323"/>
            <a:ext cx="5057775" cy="54858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Sarabun"/>
              </a:rPr>
              <a:t>Focus Area:</a:t>
            </a:r>
            <a:r>
              <a:rPr b="0" sz="1350" i="0" u="none">
                <a:solidFill>
                  <a:srgbClr val="334155"/>
                </a:solidFill>
                <a:latin typeface="Sarabun"/>
              </a:rPr>
              <a:t> ตรวจสอบ Input/Output, ขอบเขตข้อมูล (Boundary values) และการจัดการข้อผิดพลาด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3440251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441203"/>
            <a:ext cx="5057775" cy="54858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Sarabun"/>
              </a:rPr>
              <a:t>Real-world Example:</a:t>
            </a:r>
            <a:r>
              <a:rPr b="0" sz="1350" i="0" u="none">
                <a:solidFill>
                  <a:srgbClr val="334155"/>
                </a:solidFill>
                <a:latin typeface="Sarabun"/>
              </a:rPr>
              <a:t> ฟังก์ชันคำนวณภาษีต้องทดสอบค่าต่ำกว่าเกณฑ์ เท่ากับเกณฑ์ และสูงกว่าเกณฑ์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4103131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104084"/>
            <a:ext cx="5057775" cy="54858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Sarabun"/>
              </a:rPr>
              <a:t>ดำเนินการโดยผู้พัฒนา (Developer) และนิยมเขียนแบบ Automated Tests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175" y="1860202"/>
            <a:ext cx="5248275" cy="3581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arabun"/>
              </a:rPr>
              <a:t>การทดสอบระดับหน่วย (Unit Testing)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750"/>
            <a:ext cx="381000" cy="2476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19750" y="2828925"/>
            <a:ext cx="9525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05526" y="3124200"/>
            <a:ext cx="7580947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Sarabun"/>
              </a:rPr>
              <a:t>การทดสอบระบบและการบูรณาการ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81387" y="3962400"/>
            <a:ext cx="52292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Sarabun"/>
              </a:rPr>
              <a:t>Integration Testing, Validation Testing และ System Testing ขั้นสูง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41152"/>
            <a:ext cx="52863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5750"/>
            <a:ext cx="3810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841152"/>
            <a:ext cx="5286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Sarabun"/>
              </a:rPr>
              <a:t>การนำ Unit ต่าง ๆ มาเชื่อมต่อกันเพื่อทดสอบการรับส่งข้อมูลและอินเทอร์เฟซ เพื่อค้นหาข้อบกพร่องที่อาจเกิดขึ้นจากการทำงานร่วมกันของระบบย่อย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5555902"/>
            <a:ext cx="528637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Sarabun"/>
              </a:rPr>
              <a:t>ตัวอย่างสถาปัตยกรรมการทดสอบแบบ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2777370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778323"/>
            <a:ext cx="5057775" cy="54858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Sarabun"/>
              </a:rPr>
              <a:t>Thread-based Testing:</a:t>
            </a:r>
            <a:r>
              <a:rPr b="0" sz="1350" i="0" u="none">
                <a:solidFill>
                  <a:srgbClr val="334155"/>
                </a:solidFill>
                <a:latin typeface="Sarabun"/>
              </a:rPr>
              <a:t> ทดสอบตามลูปการทำงานหรือเหตุการณ์หลักของระบบ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3440251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441203"/>
            <a:ext cx="5057775" cy="27429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Sarabun"/>
              </a:rPr>
              <a:t>Use-based Testing:</a:t>
            </a:r>
            <a:r>
              <a:rPr b="0" sz="1350" i="0" u="none">
                <a:solidFill>
                  <a:srgbClr val="334155"/>
                </a:solidFill>
                <a:latin typeface="Sarabun"/>
              </a:rPr>
              <a:t> เริ่มจากคลาสอิสระไปสู่คลาสที่มีความซับซ้อนสูงขึ้น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3828841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829794"/>
            <a:ext cx="5057775" cy="54858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Sarabun"/>
              </a:rPr>
              <a:t>Cluster Testing:</a:t>
            </a:r>
            <a:r>
              <a:rPr b="0" sz="1350" i="0" u="none">
                <a:solidFill>
                  <a:srgbClr val="334155"/>
                </a:solidFill>
                <a:latin typeface="Sarabun"/>
              </a:rPr>
              <a:t> รวมกลุ่มคลาสที่เกี่ยวข้องเพื่อตรวจสอบความถูกต้องร่วมกัน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175" y="1860202"/>
            <a:ext cx="5248275" cy="3581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arabun"/>
              </a:rPr>
              <a:t>การทดสอบระดับบูรณาการ (Integration Testing)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9964"/>
            <a:ext cx="5286375" cy="25848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569964"/>
            <a:ext cx="5286375" cy="23410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5750"/>
            <a:ext cx="3810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2922389"/>
            <a:ext cx="48106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Sarabun"/>
              </a:rPr>
              <a:t>Validation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150989"/>
            <a:ext cx="458152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Sarabun"/>
              </a:rPr>
              <a:t>ตรวจสอบว่าซอฟต์แวร์ตรงตามความต้องการทางธุรกิจ (Business Requirements) ของลูกค้าและผู้ใช้งานจริงหรือไม่ โดยเน้นมุมมองผู้ใช้เป็นหลัก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86550" y="2922389"/>
            <a:ext cx="48106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Sarabun"/>
              </a:rPr>
              <a:t>System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6550" y="3150989"/>
            <a:ext cx="45815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Sarabun"/>
              </a:rPr>
              <a:t>ทดสอบภาพรวมของระบบทั้งหมดทั้งในส่วน Functional และ Non-functional requirements เช่น ประสิทธิภาพและความปลอดภัย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4024252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025205"/>
            <a:ext cx="4352925" cy="27429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Sarabun"/>
              </a:rPr>
              <a:t>เน้นการทำ Acceptance Testing ร่วมกับลูกค้า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4412843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4413795"/>
            <a:ext cx="4352925" cy="27429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Sarabun"/>
              </a:rPr>
              <a:t>ทดสอบ Scenario การใช้งานจริง เช่น ระบบจองบริการ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475" y="3780472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5150" y="3781425"/>
            <a:ext cx="4352925" cy="27429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Sarabun"/>
              </a:rPr>
              <a:t>ตรวจสอบ Performance, Security และ 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8475" y="4169062"/>
            <a:ext cx="666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4170015"/>
            <a:ext cx="4352925" cy="27429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Sarabun"/>
              </a:rPr>
              <a:t>ทดสอบ Workflow ตั้งแต่ต้นจนจบกระบวนการ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arabun"/>
              </a:rPr>
              <a:t>Validation และ System Testing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572791"/>
            <a:ext cx="5286375" cy="9295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3835747"/>
            <a:ext cx="5286375" cy="14591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5750"/>
            <a:ext cx="3810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429916"/>
            <a:ext cx="555069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arabun"/>
              </a:rPr>
              <a:t>ขั้นตอนการ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2809964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810916"/>
            <a:ext cx="5095875" cy="27429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Sarabun"/>
              </a:rPr>
              <a:t>Reproduce:</a:t>
            </a:r>
            <a:r>
              <a:rPr b="0" sz="1350" i="0" u="none">
                <a:solidFill>
                  <a:srgbClr val="334155"/>
                </a:solidFill>
                <a:latin typeface="Sarabun"/>
              </a:rPr>
              <a:t> ทำซ้ำข้อผิดพลาดเพื่อทำความเข้าใจเงื่อนไข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3198554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199507"/>
            <a:ext cx="5095875" cy="27429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Sarabun"/>
              </a:rPr>
              <a:t>Collect:</a:t>
            </a:r>
            <a:r>
              <a:rPr b="0" sz="1350" i="0" u="none">
                <a:solidFill>
                  <a:srgbClr val="334155"/>
                </a:solidFill>
                <a:latin typeface="Sarabun"/>
              </a:rPr>
              <a:t> รวบรวม Error Log และข้อมูลแวดล้อม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" y="3587144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588097"/>
            <a:ext cx="5095875" cy="27429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Sarabun"/>
              </a:rPr>
              <a:t>Locate:</a:t>
            </a:r>
            <a:r>
              <a:rPr b="0" sz="1350" i="0" u="none">
                <a:solidFill>
                  <a:srgbClr val="334155"/>
                </a:solidFill>
                <a:latin typeface="Sarabun"/>
              </a:rPr>
              <a:t> วิเคราะห์และค้นหาต้นตอของปัญหา (Root Cause)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" y="3975735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Sarabun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976687"/>
            <a:ext cx="5095875" cy="27429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Sarabun"/>
              </a:rPr>
              <a:t>Fix &amp; Retest:</a:t>
            </a:r>
            <a:r>
              <a:rPr b="0" sz="1350" i="0" u="none">
                <a:solidFill>
                  <a:srgbClr val="334155"/>
                </a:solidFill>
                <a:latin typeface="Sarabun"/>
              </a:rPr>
              <a:t> แก้ไขข้อบกพร่องและทดสอบซ้ำ (Regression Test)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9875" y="2763291"/>
            <a:ext cx="47720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FFFFF"/>
                </a:solidFill>
                <a:latin typeface="Sarabun Medium"/>
              </a:rPr>
              <a:t>Testing: ค้นหาและชี้จุดบกพร่องของระบบ</a:t>
            </a:r>
            <a:r>
              <a:t>
</a:t>
            </a:r>
            <a:r>
              <a:rPr b="0" sz="1350" i="0" u="none">
                <a:solidFill>
                  <a:srgbClr val="FFFFFF"/>
                </a:solidFill>
                <a:latin typeface="Sarabun Medium"/>
              </a:rPr>
              <a:t> Debugging: วิเคราะห์หาสาเหตุและแก้ไขโค้ด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925" y="4140547"/>
            <a:ext cx="298037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arabun"/>
              </a:rPr>
              <a:t>ลำดับขั้นตอนการทดสอบมาตรฐาน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925" y="4502497"/>
            <a:ext cx="46767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F172A"/>
                </a:solidFill>
                <a:latin typeface="Sarabun SemiBold"/>
              </a:rPr>
              <a:t>Unit Testing → Integration Testing → Validation → System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arabun"/>
              </a:rPr>
              <a:t>การดีบั๊ก (Debugging) และสรุปภาพรวม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